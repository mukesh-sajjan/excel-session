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</p:sldMasterIdLst>
  <p:sldIdLst>
    <p:sldId id="256" r:id="rId2"/>
    <p:sldId id="269" r:id="rId3"/>
    <p:sldId id="300" r:id="rId4"/>
    <p:sldId id="301" r:id="rId5"/>
    <p:sldId id="289" r:id="rId6"/>
    <p:sldId id="294" r:id="rId7"/>
    <p:sldId id="295" r:id="rId8"/>
    <p:sldId id="296" r:id="rId9"/>
    <p:sldId id="290" r:id="rId10"/>
    <p:sldId id="297" r:id="rId11"/>
    <p:sldId id="298" r:id="rId12"/>
    <p:sldId id="299" r:id="rId13"/>
    <p:sldId id="285" r:id="rId14"/>
    <p:sldId id="286" r:id="rId15"/>
    <p:sldId id="287" r:id="rId16"/>
    <p:sldId id="28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65FD1BAE-9621-4154-839A-D60D002DD9F9}">
          <p14:sldIdLst>
            <p14:sldId id="256"/>
            <p14:sldId id="269"/>
            <p14:sldId id="300"/>
            <p14:sldId id="301"/>
            <p14:sldId id="289"/>
            <p14:sldId id="294"/>
            <p14:sldId id="295"/>
            <p14:sldId id="296"/>
            <p14:sldId id="290"/>
            <p14:sldId id="297"/>
            <p14:sldId id="298"/>
            <p14:sldId id="299"/>
            <p14:sldId id="285"/>
            <p14:sldId id="286"/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433180-5722-4A66-AE1F-8B745A0CD82C}" v="170" dt="2023-12-15T12:59:29.5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95" autoAdjust="0"/>
    <p:restoredTop sz="93447" autoAdjust="0"/>
  </p:normalViewPr>
  <p:slideViewPr>
    <p:cSldViewPr snapToGrid="0">
      <p:cViewPr varScale="1">
        <p:scale>
          <a:sx n="59" d="100"/>
          <a:sy n="59" d="100"/>
        </p:scale>
        <p:origin x="1268" y="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jjan, Mukesh" userId="46c5dd69-c73e-49cf-85bb-ad7144bc5475" providerId="ADAL" clId="{38433180-5722-4A66-AE1F-8B745A0CD82C}"/>
    <pc:docChg chg="custSel addSld modSld sldOrd modSection">
      <pc:chgData name="Sajjan, Mukesh" userId="46c5dd69-c73e-49cf-85bb-ad7144bc5475" providerId="ADAL" clId="{38433180-5722-4A66-AE1F-8B745A0CD82C}" dt="2023-12-15T13:08:01.233" v="887" actId="6549"/>
      <pc:docMkLst>
        <pc:docMk/>
      </pc:docMkLst>
      <pc:sldChg chg="modTransition">
        <pc:chgData name="Sajjan, Mukesh" userId="46c5dd69-c73e-49cf-85bb-ad7144bc5475" providerId="ADAL" clId="{38433180-5722-4A66-AE1F-8B745A0CD82C}" dt="2023-12-15T11:16:38.124" v="1"/>
        <pc:sldMkLst>
          <pc:docMk/>
          <pc:sldMk cId="629537418" sldId="256"/>
        </pc:sldMkLst>
      </pc:sldChg>
      <pc:sldChg chg="modSp modTransition modAnim">
        <pc:chgData name="Sajjan, Mukesh" userId="46c5dd69-c73e-49cf-85bb-ad7144bc5475" providerId="ADAL" clId="{38433180-5722-4A66-AE1F-8B745A0CD82C}" dt="2023-12-15T11:34:33.049" v="550" actId="20577"/>
        <pc:sldMkLst>
          <pc:docMk/>
          <pc:sldMk cId="440378143" sldId="257"/>
        </pc:sldMkLst>
        <pc:spChg chg="mod">
          <ac:chgData name="Sajjan, Mukesh" userId="46c5dd69-c73e-49cf-85bb-ad7144bc5475" providerId="ADAL" clId="{38433180-5722-4A66-AE1F-8B745A0CD82C}" dt="2023-12-15T11:34:33.049" v="550" actId="20577"/>
          <ac:spMkLst>
            <pc:docMk/>
            <pc:sldMk cId="440378143" sldId="257"/>
            <ac:spMk id="12" creationId="{1DA1FDD8-2A8E-9BA7-69B7-D9FC787BD746}"/>
          </ac:spMkLst>
        </pc:spChg>
      </pc:sldChg>
      <pc:sldChg chg="modSp modTransition modAnim">
        <pc:chgData name="Sajjan, Mukesh" userId="46c5dd69-c73e-49cf-85bb-ad7144bc5475" providerId="ADAL" clId="{38433180-5722-4A66-AE1F-8B745A0CD82C}" dt="2023-12-15T12:29:31.732" v="657" actId="20577"/>
        <pc:sldMkLst>
          <pc:docMk/>
          <pc:sldMk cId="2700281011" sldId="259"/>
        </pc:sldMkLst>
        <pc:spChg chg="mod">
          <ac:chgData name="Sajjan, Mukesh" userId="46c5dd69-c73e-49cf-85bb-ad7144bc5475" providerId="ADAL" clId="{38433180-5722-4A66-AE1F-8B745A0CD82C}" dt="2023-12-15T12:29:31.732" v="657" actId="20577"/>
          <ac:spMkLst>
            <pc:docMk/>
            <pc:sldMk cId="2700281011" sldId="259"/>
            <ac:spMk id="2" creationId="{9B2D276D-74ED-4F18-156F-20F155283857}"/>
          </ac:spMkLst>
        </pc:spChg>
      </pc:sldChg>
      <pc:sldChg chg="modTransition modAnim">
        <pc:chgData name="Sajjan, Mukesh" userId="46c5dd69-c73e-49cf-85bb-ad7144bc5475" providerId="ADAL" clId="{38433180-5722-4A66-AE1F-8B745A0CD82C}" dt="2023-12-15T11:24:13.304" v="33"/>
        <pc:sldMkLst>
          <pc:docMk/>
          <pc:sldMk cId="2043018627" sldId="260"/>
        </pc:sldMkLst>
      </pc:sldChg>
      <pc:sldChg chg="modTransition modAnim">
        <pc:chgData name="Sajjan, Mukesh" userId="46c5dd69-c73e-49cf-85bb-ad7144bc5475" providerId="ADAL" clId="{38433180-5722-4A66-AE1F-8B745A0CD82C}" dt="2023-12-15T11:24:26.592" v="34"/>
        <pc:sldMkLst>
          <pc:docMk/>
          <pc:sldMk cId="2738015238" sldId="261"/>
        </pc:sldMkLst>
      </pc:sldChg>
      <pc:sldChg chg="modTransition modAnim">
        <pc:chgData name="Sajjan, Mukesh" userId="46c5dd69-c73e-49cf-85bb-ad7144bc5475" providerId="ADAL" clId="{38433180-5722-4A66-AE1F-8B745A0CD82C}" dt="2023-12-15T11:25:33.020" v="39"/>
        <pc:sldMkLst>
          <pc:docMk/>
          <pc:sldMk cId="230691455" sldId="262"/>
        </pc:sldMkLst>
      </pc:sldChg>
      <pc:sldChg chg="modTransition modAnim">
        <pc:chgData name="Sajjan, Mukesh" userId="46c5dd69-c73e-49cf-85bb-ad7144bc5475" providerId="ADAL" clId="{38433180-5722-4A66-AE1F-8B745A0CD82C}" dt="2023-12-15T11:25:44.679" v="40"/>
        <pc:sldMkLst>
          <pc:docMk/>
          <pc:sldMk cId="2909105263" sldId="263"/>
        </pc:sldMkLst>
      </pc:sldChg>
      <pc:sldChg chg="modSp modTransition modAnim">
        <pc:chgData name="Sajjan, Mukesh" userId="46c5dd69-c73e-49cf-85bb-ad7144bc5475" providerId="ADAL" clId="{38433180-5722-4A66-AE1F-8B745A0CD82C}" dt="2023-12-15T12:59:29.546" v="673" actId="20577"/>
        <pc:sldMkLst>
          <pc:docMk/>
          <pc:sldMk cId="3781154122" sldId="264"/>
        </pc:sldMkLst>
        <pc:spChg chg="mod">
          <ac:chgData name="Sajjan, Mukesh" userId="46c5dd69-c73e-49cf-85bb-ad7144bc5475" providerId="ADAL" clId="{38433180-5722-4A66-AE1F-8B745A0CD82C}" dt="2023-12-15T12:59:29.546" v="673" actId="20577"/>
          <ac:spMkLst>
            <pc:docMk/>
            <pc:sldMk cId="3781154122" sldId="264"/>
            <ac:spMk id="2" creationId="{9B2D276D-74ED-4F18-156F-20F155283857}"/>
          </ac:spMkLst>
        </pc:spChg>
      </pc:sldChg>
      <pc:sldChg chg="modTransition modAnim">
        <pc:chgData name="Sajjan, Mukesh" userId="46c5dd69-c73e-49cf-85bb-ad7144bc5475" providerId="ADAL" clId="{38433180-5722-4A66-AE1F-8B745A0CD82C}" dt="2023-12-15T11:26:16.690" v="42"/>
        <pc:sldMkLst>
          <pc:docMk/>
          <pc:sldMk cId="106534589" sldId="265"/>
        </pc:sldMkLst>
      </pc:sldChg>
      <pc:sldChg chg="modTransition modAnim">
        <pc:chgData name="Sajjan, Mukesh" userId="46c5dd69-c73e-49cf-85bb-ad7144bc5475" providerId="ADAL" clId="{38433180-5722-4A66-AE1F-8B745A0CD82C}" dt="2023-12-15T11:22:42.007" v="26"/>
        <pc:sldMkLst>
          <pc:docMk/>
          <pc:sldMk cId="286563252" sldId="266"/>
        </pc:sldMkLst>
      </pc:sldChg>
      <pc:sldChg chg="modTransition modAnim">
        <pc:chgData name="Sajjan, Mukesh" userId="46c5dd69-c73e-49cf-85bb-ad7144bc5475" providerId="ADAL" clId="{38433180-5722-4A66-AE1F-8B745A0CD82C}" dt="2023-12-15T11:22:59.193" v="27"/>
        <pc:sldMkLst>
          <pc:docMk/>
          <pc:sldMk cId="3309412879" sldId="267"/>
        </pc:sldMkLst>
      </pc:sldChg>
      <pc:sldChg chg="modSp add mod">
        <pc:chgData name="Sajjan, Mukesh" userId="46c5dd69-c73e-49cf-85bb-ad7144bc5475" providerId="ADAL" clId="{38433180-5722-4A66-AE1F-8B745A0CD82C}" dt="2023-12-15T11:33:18.840" v="546" actId="20577"/>
        <pc:sldMkLst>
          <pc:docMk/>
          <pc:sldMk cId="2700813689" sldId="268"/>
        </pc:sldMkLst>
        <pc:spChg chg="mod">
          <ac:chgData name="Sajjan, Mukesh" userId="46c5dd69-c73e-49cf-85bb-ad7144bc5475" providerId="ADAL" clId="{38433180-5722-4A66-AE1F-8B745A0CD82C}" dt="2023-12-15T11:27:19.201" v="53" actId="20577"/>
          <ac:spMkLst>
            <pc:docMk/>
            <pc:sldMk cId="2700813689" sldId="268"/>
            <ac:spMk id="6" creationId="{FA1745D0-1966-99C6-E622-668379A14D68}"/>
          </ac:spMkLst>
        </pc:spChg>
        <pc:spChg chg="mod">
          <ac:chgData name="Sajjan, Mukesh" userId="46c5dd69-c73e-49cf-85bb-ad7144bc5475" providerId="ADAL" clId="{38433180-5722-4A66-AE1F-8B745A0CD82C}" dt="2023-12-15T11:33:18.840" v="546" actId="20577"/>
          <ac:spMkLst>
            <pc:docMk/>
            <pc:sldMk cId="2700813689" sldId="268"/>
            <ac:spMk id="12" creationId="{1DA1FDD8-2A8E-9BA7-69B7-D9FC787BD746}"/>
          </ac:spMkLst>
        </pc:spChg>
      </pc:sldChg>
      <pc:sldChg chg="modSp add mod ord">
        <pc:chgData name="Sajjan, Mukesh" userId="46c5dd69-c73e-49cf-85bb-ad7144bc5475" providerId="ADAL" clId="{38433180-5722-4A66-AE1F-8B745A0CD82C}" dt="2023-12-15T13:08:01.233" v="887" actId="6549"/>
        <pc:sldMkLst>
          <pc:docMk/>
          <pc:sldMk cId="1634805835" sldId="269"/>
        </pc:sldMkLst>
        <pc:spChg chg="mod">
          <ac:chgData name="Sajjan, Mukesh" userId="46c5dd69-c73e-49cf-85bb-ad7144bc5475" providerId="ADAL" clId="{38433180-5722-4A66-AE1F-8B745A0CD82C}" dt="2023-12-15T13:04:45.815" v="713" actId="20577"/>
          <ac:spMkLst>
            <pc:docMk/>
            <pc:sldMk cId="1634805835" sldId="269"/>
            <ac:spMk id="6" creationId="{FA1745D0-1966-99C6-E622-668379A14D68}"/>
          </ac:spMkLst>
        </pc:spChg>
        <pc:spChg chg="mod">
          <ac:chgData name="Sajjan, Mukesh" userId="46c5dd69-c73e-49cf-85bb-ad7144bc5475" providerId="ADAL" clId="{38433180-5722-4A66-AE1F-8B745A0CD82C}" dt="2023-12-15T13:08:01.233" v="887" actId="6549"/>
          <ac:spMkLst>
            <pc:docMk/>
            <pc:sldMk cId="1634805835" sldId="269"/>
            <ac:spMk id="12" creationId="{1DA1FDD8-2A8E-9BA7-69B7-D9FC787BD74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738B9-FDF5-35E1-FB02-144A7B9F99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8A4192-FDFB-783C-923D-7E5205639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6FAD5-7B1E-E960-B572-F015B0403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A8DD2-C443-44AD-85B3-4CE72B962C5F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0596F-A7B0-36A0-3DA0-BB6FDDAF4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3BE1D-F121-3CB1-4F04-30EC61198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CA09-A334-4A38-8A78-E51DCD588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227445"/>
      </p:ext>
    </p:extLst>
  </p:cSld>
  <p:clrMapOvr>
    <a:masterClrMapping/>
  </p:clrMapOvr>
  <p:transition spd="slow">
    <p:wheel spokes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A1E37-C61F-5529-8B5A-94A646841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A7979-294F-0A24-2455-253C7EB3C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3BDEF-79F1-0864-58C6-C77D55584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A8DD2-C443-44AD-85B3-4CE72B962C5F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50101-BE48-5E4A-D48D-1AD51E41F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D0F29-6AC1-B31F-24D2-1ED0EAE93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CA09-A334-4A38-8A78-E51DCD588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78123"/>
      </p:ext>
    </p:extLst>
  </p:cSld>
  <p:clrMapOvr>
    <a:masterClrMapping/>
  </p:clrMapOvr>
  <p:transition spd="slow">
    <p:wheel spokes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B0B38-3C6D-745E-A823-3989037C3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8E18E2-4059-41C2-2E03-2001F0BDF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90259-7227-72C3-AF8D-28CDD8E17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A8DD2-C443-44AD-85B3-4CE72B962C5F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69429-5DF0-3D73-5BEF-C4B198841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8A29C-3E6E-0DF0-1EDC-543018848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CA09-A334-4A38-8A78-E51DCD588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689705"/>
      </p:ext>
    </p:extLst>
  </p:cSld>
  <p:clrMapOvr>
    <a:masterClrMapping/>
  </p:clrMapOvr>
  <p:transition spd="slow">
    <p:wheel spokes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1BE35-2C3B-CE5F-0994-1B57A6B4B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7449C-D84F-43B7-9E7B-2687DC5093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7EC91B-ADED-E545-2F65-25684027A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CA0EFF-CAFD-B1C2-DB55-38E317E5F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A8DD2-C443-44AD-85B3-4CE72B962C5F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C862B-6506-8F1C-5EF4-3EB592BC4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21C9B2-F4EA-7350-4BAB-075B054A8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CA09-A334-4A38-8A78-E51DCD588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035016"/>
      </p:ext>
    </p:extLst>
  </p:cSld>
  <p:clrMapOvr>
    <a:masterClrMapping/>
  </p:clrMapOvr>
  <p:transition spd="slow">
    <p:wheel spokes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1B858-C139-44F0-A3F4-B71E19A98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689910-6359-A814-96A7-6DF5523EA1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C38366-A4F1-C86E-DD6C-DA90361A8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DD385A-E108-33A2-671E-0C038FA322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B95D5C-7A95-C513-D478-BBABA82585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91680C-054A-B2F2-8E1B-964D073A6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A8DD2-C443-44AD-85B3-4CE72B962C5F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C307DC-7F73-8619-1B37-C41309A21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87BB57-37AA-5986-CA70-4DE5F0158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CA09-A334-4A38-8A78-E51DCD588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919523"/>
      </p:ext>
    </p:extLst>
  </p:cSld>
  <p:clrMapOvr>
    <a:masterClrMapping/>
  </p:clrMapOvr>
  <p:transition spd="slow">
    <p:wheel spokes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BA136-374F-1EA3-AB0B-676008DF2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FD73D2-26BA-E25B-C7B1-D6C0E6B2B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A8DD2-C443-44AD-85B3-4CE72B962C5F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80398D-1484-592A-DFEC-507612F08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BE0E3C-F21E-77A3-A715-4BA486342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CA09-A334-4A38-8A78-E51DCD588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900150"/>
      </p:ext>
    </p:extLst>
  </p:cSld>
  <p:clrMapOvr>
    <a:masterClrMapping/>
  </p:clrMapOvr>
  <p:transition spd="slow">
    <p:wheel spokes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42547A-4EEE-CA35-FABD-C9AADCDB8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A8DD2-C443-44AD-85B3-4CE72B962C5F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01D9B3-8535-DF0D-69CF-64FDB52D1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E4BBE-3107-BECB-518A-DABFF8F5D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CA09-A334-4A38-8A78-E51DCD588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263693"/>
      </p:ext>
    </p:extLst>
  </p:cSld>
  <p:clrMapOvr>
    <a:masterClrMapping/>
  </p:clrMapOvr>
  <p:transition spd="slow">
    <p:wheel spokes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70F13-93E7-2C52-1806-07B6999F6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CAE8B-49A5-8E05-E782-8360B9CAD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C5D151-57AE-3469-2356-20337ED4CA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CB9A4B-1B78-2991-DF71-A85EAC839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A8DD2-C443-44AD-85B3-4CE72B962C5F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4581AC-0A90-73A0-71C1-EFE6AD4AC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9EC23B-9AEA-7549-E34F-ACAE1B2CA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CA09-A334-4A38-8A78-E51DCD588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683268"/>
      </p:ext>
    </p:extLst>
  </p:cSld>
  <p:clrMapOvr>
    <a:masterClrMapping/>
  </p:clrMapOvr>
  <p:transition spd="slow">
    <p:wheel spokes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BCB92-C8A2-326D-CCA5-548A9AD79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767FAD-F59A-3FC7-3F53-B0D8C148E1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1D72E7-B682-6248-9A7B-2096B66F0F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B63566-D5CF-DA30-AFBA-B22D359AE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A8DD2-C443-44AD-85B3-4CE72B962C5F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6366BE-9A14-76AE-95E0-E6ABAAAB3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461ED6-B8C0-FF7D-4F3D-AA53B0CD4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CA09-A334-4A38-8A78-E51DCD588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19263"/>
      </p:ext>
    </p:extLst>
  </p:cSld>
  <p:clrMapOvr>
    <a:masterClrMapping/>
  </p:clrMapOvr>
  <p:transition spd="slow">
    <p:wheel spokes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475AE-156A-5360-0D30-AF7C82FF3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725D5E-3137-505E-32DB-427FB9781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B45FC-0BB7-BC43-DB5E-99AFE3F5B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A8DD2-C443-44AD-85B3-4CE72B962C5F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F229C-A4E9-868E-C3D1-BA28CABC1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9531F-DF68-9DC0-F1F7-B72904FEC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CA09-A334-4A38-8A78-E51DCD588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528205"/>
      </p:ext>
    </p:extLst>
  </p:cSld>
  <p:clrMapOvr>
    <a:masterClrMapping/>
  </p:clrMapOvr>
  <p:transition spd="slow">
    <p:wheel spokes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CF3674-77ED-E957-512E-5650E22A59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1F7CFF-E3F1-58EB-A56D-D9B6F9FF4C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144FE-BB50-3236-D0BE-5467BD128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A8DD2-C443-44AD-85B3-4CE72B962C5F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8A16E-27BA-E4EB-CB20-7C4D06CD1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75F89-08FD-04C6-FC12-8E2A15DB1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CA09-A334-4A38-8A78-E51DCD588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722123"/>
      </p:ext>
    </p:extLst>
  </p:cSld>
  <p:clrMapOvr>
    <a:masterClrMapping/>
  </p:clrMapOvr>
  <p:transition spd="slow">
    <p:wheel spokes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C23BD0-99A9-DAD9-B57A-97E21A504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1911AA-35A7-DAB0-8BA6-0D45951051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8F440-E014-CF32-2D8F-FEEB5FD4F2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9A8DD2-C443-44AD-85B3-4CE72B962C5F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F98C8-2270-9FCE-46B6-3ED419F9F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6B295-515B-F72A-32C2-73369D428E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4FCA09-A334-4A38-8A78-E51DCD588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374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transition spd="slow">
    <p:wheel spokes="1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twork connection abstract against a white background">
            <a:extLst>
              <a:ext uri="{FF2B5EF4-FFF2-40B4-BE49-F238E27FC236}">
                <a16:creationId xmlns:a16="http://schemas.microsoft.com/office/drawing/2014/main" id="{7E30B6F3-B578-259C-162F-8F36C4213BA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15730"/>
          <a:stretch/>
        </p:blipFill>
        <p:spPr>
          <a:xfrm>
            <a:off x="1" y="53705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521BD8-732F-DCA2-ECF7-19DAE205D3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721" y="1622807"/>
            <a:ext cx="10332720" cy="2236264"/>
          </a:xfrm>
        </p:spPr>
        <p:txBody>
          <a:bodyPr>
            <a:normAutofit/>
          </a:bodyPr>
          <a:lstStyle/>
          <a:p>
            <a:r>
              <a:rPr lang="en-IN" sz="5500" b="1" dirty="0"/>
              <a:t>AB Testing</a:t>
            </a:r>
            <a:br>
              <a:rPr lang="en-IN" sz="5500" b="1" dirty="0"/>
            </a:br>
            <a:r>
              <a:rPr lang="en-IN" sz="5500" b="1" dirty="0"/>
              <a:t>Hypothesis 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AEC3E5-DF9C-D9D8-4248-93133376BA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934142"/>
            <a:ext cx="7588155" cy="1414091"/>
          </a:xfrm>
        </p:spPr>
        <p:txBody>
          <a:bodyPr>
            <a:normAutofit/>
          </a:bodyPr>
          <a:lstStyle/>
          <a:p>
            <a:r>
              <a:rPr lang="en-IN" sz="2000" dirty="0"/>
              <a:t>- Mukesh Sajjan</a:t>
            </a:r>
          </a:p>
        </p:txBody>
      </p:sp>
    </p:spTree>
    <p:extLst>
      <p:ext uri="{BB962C8B-B14F-4D97-AF65-F5344CB8AC3E}">
        <p14:creationId xmlns:p14="http://schemas.microsoft.com/office/powerpoint/2010/main" val="629537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1745D0-1966-99C6-E622-668379A14D68}"/>
              </a:ext>
            </a:extLst>
          </p:cNvPr>
          <p:cNvSpPr txBox="1"/>
          <p:nvPr/>
        </p:nvSpPr>
        <p:spPr>
          <a:xfrm>
            <a:off x="838200" y="184805"/>
            <a:ext cx="10515600" cy="15058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dirty="0">
                <a:latin typeface="+mj-lt"/>
                <a:ea typeface="+mj-ea"/>
                <a:cs typeface="+mj-cs"/>
              </a:rPr>
              <a:t>A/B Testing Vs Hypothesis Testing</a:t>
            </a:r>
            <a:endParaRPr lang="en-US" sz="52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CB1813-56FD-47C0-82D8-65E4E1271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176" y="1845426"/>
            <a:ext cx="8436594" cy="445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805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1745D0-1966-99C6-E622-668379A14D68}"/>
              </a:ext>
            </a:extLst>
          </p:cNvPr>
          <p:cNvSpPr txBox="1"/>
          <p:nvPr/>
        </p:nvSpPr>
        <p:spPr>
          <a:xfrm>
            <a:off x="838200" y="184805"/>
            <a:ext cx="10515600" cy="15058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dirty="0">
                <a:latin typeface="+mj-lt"/>
                <a:ea typeface="+mj-ea"/>
                <a:cs typeface="+mj-cs"/>
              </a:rPr>
              <a:t>A/B Testing Vs Hypothesis Testing</a:t>
            </a:r>
            <a:endParaRPr lang="en-US" sz="52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343F30-984C-003A-D438-F1840464F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686" y="1657258"/>
            <a:ext cx="9720943" cy="4297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0783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1745D0-1966-99C6-E622-668379A14D68}"/>
              </a:ext>
            </a:extLst>
          </p:cNvPr>
          <p:cNvSpPr txBox="1"/>
          <p:nvPr/>
        </p:nvSpPr>
        <p:spPr>
          <a:xfrm>
            <a:off x="838200" y="184805"/>
            <a:ext cx="10515600" cy="15058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A/B Testing Vs Hypothesis Testing</a:t>
            </a:r>
            <a:endParaRPr lang="en-US" sz="52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8FBA10-40A0-93E7-FEF0-7983C5537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982" y="1845426"/>
            <a:ext cx="7574983" cy="445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0376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1745D0-1966-99C6-E622-668379A14D68}"/>
              </a:ext>
            </a:extLst>
          </p:cNvPr>
          <p:cNvSpPr txBox="1"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AB Testing</a:t>
            </a:r>
            <a:endParaRPr lang="en-US" sz="36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CD2AC6-4A5F-F7C9-C7E9-3F36CF829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1258011"/>
            <a:ext cx="6780700" cy="4339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765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1745D0-1966-99C6-E622-668379A14D68}"/>
              </a:ext>
            </a:extLst>
          </p:cNvPr>
          <p:cNvSpPr txBox="1"/>
          <p:nvPr/>
        </p:nvSpPr>
        <p:spPr>
          <a:xfrm>
            <a:off x="660041" y="2767106"/>
            <a:ext cx="2880828" cy="30719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AB Testing</a:t>
            </a:r>
          </a:p>
        </p:txBody>
      </p:sp>
      <p:pic>
        <p:nvPicPr>
          <p:cNvPr id="3" name="Picture 2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EB59D72C-82B8-49D0-715D-BBE117664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428" y="1143857"/>
            <a:ext cx="7225748" cy="4570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9793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1745D0-1966-99C6-E622-668379A14D68}"/>
              </a:ext>
            </a:extLst>
          </p:cNvPr>
          <p:cNvSpPr txBox="1"/>
          <p:nvPr/>
        </p:nvSpPr>
        <p:spPr>
          <a:xfrm>
            <a:off x="660041" y="2767106"/>
            <a:ext cx="2880828" cy="30719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AB Testing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25B74A-6037-E8CC-0EEA-E83A4E640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428" y="1387726"/>
            <a:ext cx="7225748" cy="4082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2489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1745D0-1966-99C6-E622-668379A14D68}"/>
              </a:ext>
            </a:extLst>
          </p:cNvPr>
          <p:cNvSpPr txBox="1"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Stages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3AB856-ECCB-DC5E-FB68-CC458BC7A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1224108"/>
            <a:ext cx="6780700" cy="4407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5861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1745D0-1966-99C6-E622-668379A14D68}"/>
              </a:ext>
            </a:extLst>
          </p:cNvPr>
          <p:cNvSpPr txBox="1"/>
          <p:nvPr/>
        </p:nvSpPr>
        <p:spPr>
          <a:xfrm>
            <a:off x="556532" y="643467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Types of Statistics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2CEB48-5F63-C664-C1DA-07E9F672F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882" y="1675227"/>
            <a:ext cx="8330235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490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1745D0-1966-99C6-E622-668379A14D68}"/>
              </a:ext>
            </a:extLst>
          </p:cNvPr>
          <p:cNvSpPr txBox="1"/>
          <p:nvPr/>
        </p:nvSpPr>
        <p:spPr>
          <a:xfrm>
            <a:off x="556532" y="643467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Types of Statistics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EC7932-95C0-EF48-7523-BEBF1D08C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814" y="1675227"/>
            <a:ext cx="7416372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1462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1745D0-1966-99C6-E622-668379A14D68}"/>
              </a:ext>
            </a:extLst>
          </p:cNvPr>
          <p:cNvSpPr txBox="1"/>
          <p:nvPr/>
        </p:nvSpPr>
        <p:spPr>
          <a:xfrm>
            <a:off x="556532" y="643467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Types of Statistics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F6FFEC-0F9C-AF2A-670F-A96A63FE9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845" y="1675227"/>
            <a:ext cx="7354309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0329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1745D0-1966-99C6-E622-668379A14D68}"/>
              </a:ext>
            </a:extLst>
          </p:cNvPr>
          <p:cNvSpPr txBox="1"/>
          <p:nvPr/>
        </p:nvSpPr>
        <p:spPr>
          <a:xfrm>
            <a:off x="556532" y="643467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Types of Statistics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6A1F71-FC46-AEAC-2D8D-56DBB29DB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023" y="1675227"/>
            <a:ext cx="8409953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3858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1745D0-1966-99C6-E622-668379A14D68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Hypothesis Testing</a:t>
            </a: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A1FDD8-2A8E-9BA7-69B7-D9FC787BD746}"/>
              </a:ext>
            </a:extLst>
          </p:cNvPr>
          <p:cNvSpPr txBox="1"/>
          <p:nvPr/>
        </p:nvSpPr>
        <p:spPr>
          <a:xfrm>
            <a:off x="605246" y="1575459"/>
            <a:ext cx="1051560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/>
              <a:t>A common technique in inferential statistics is hypothesis testing, which involves making a statement about a population parameter and assessing the evidence against that statement based on sample data. The results of hypothesis tests help researchers make decisions and draw conclusions.</a:t>
            </a:r>
          </a:p>
          <a:p>
            <a:pPr algn="l"/>
            <a:endParaRPr lang="en-US" sz="2200" b="0" i="0" dirty="0">
              <a:solidFill>
                <a:srgbClr val="242424"/>
              </a:solidFill>
              <a:effectLst/>
              <a:highlight>
                <a:srgbClr val="FFFFFF"/>
              </a:highlight>
            </a:endParaRPr>
          </a:p>
          <a:p>
            <a:pPr algn="l"/>
            <a:r>
              <a:rPr lang="en-US" sz="22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</a:rPr>
              <a:t>With hypothesis testing, there are two hypotheses that is formed generally which are mainly the </a:t>
            </a:r>
            <a:r>
              <a:rPr lang="en-US" sz="2200" b="0" i="1" dirty="0">
                <a:solidFill>
                  <a:srgbClr val="242424"/>
                </a:solidFill>
                <a:effectLst/>
                <a:highlight>
                  <a:srgbClr val="FFFFFF"/>
                </a:highlight>
              </a:rPr>
              <a:t>Null hypothesis</a:t>
            </a:r>
            <a:r>
              <a:rPr lang="en-US" sz="22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</a:rPr>
              <a:t> and the </a:t>
            </a:r>
            <a:r>
              <a:rPr lang="en-US" sz="2200" b="0" i="1" dirty="0">
                <a:solidFill>
                  <a:srgbClr val="242424"/>
                </a:solidFill>
                <a:effectLst/>
                <a:highlight>
                  <a:srgbClr val="FFFFFF"/>
                </a:highlight>
              </a:rPr>
              <a:t>Alternative hypothesis. </a:t>
            </a:r>
            <a:r>
              <a:rPr lang="en-US" sz="22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</a:rPr>
              <a:t>Where the Null hypothesis contradicts the assumption made in the alternative hypothesis. We set a significance threshold and test for 2 possible scenarios which are to either</a:t>
            </a:r>
          </a:p>
          <a:p>
            <a:pPr algn="l"/>
            <a:endParaRPr lang="en-US" sz="2200" b="0" i="0" dirty="0">
              <a:solidFill>
                <a:srgbClr val="242424"/>
              </a:solidFill>
              <a:effectLst/>
              <a:highlight>
                <a:srgbClr val="FFFFFF"/>
              </a:highlight>
            </a:endParaRPr>
          </a:p>
          <a:p>
            <a:pPr marL="514350" indent="-514350" algn="l">
              <a:buAutoNum type="romanLcPeriod"/>
            </a:pPr>
            <a:r>
              <a:rPr lang="en-US" sz="2200" b="1" i="0" dirty="0">
                <a:solidFill>
                  <a:srgbClr val="242424"/>
                </a:solidFill>
                <a:effectLst/>
                <a:highlight>
                  <a:srgbClr val="FFFFFF"/>
                </a:highlight>
              </a:rPr>
              <a:t>Reject the null hypothesis</a:t>
            </a:r>
            <a:r>
              <a:rPr lang="en-US" sz="22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</a:rPr>
              <a:t> </a:t>
            </a:r>
          </a:p>
          <a:p>
            <a:pPr marL="514350" indent="-514350" algn="l">
              <a:buAutoNum type="romanLcPeriod"/>
            </a:pPr>
            <a:endParaRPr lang="en-US" sz="2200" dirty="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514350" indent="-514350" algn="l">
              <a:buAutoNum type="romanLcPeriod"/>
            </a:pPr>
            <a:r>
              <a:rPr lang="en-US" sz="2200" b="1" i="0" dirty="0">
                <a:solidFill>
                  <a:srgbClr val="242424"/>
                </a:solidFill>
                <a:effectLst/>
                <a:highlight>
                  <a:srgbClr val="FFFFFF"/>
                </a:highlight>
              </a:rPr>
              <a:t>ii. Fail to reject the null hypothesis</a:t>
            </a:r>
            <a:r>
              <a:rPr lang="en-US" sz="22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</a:rPr>
              <a:t> </a:t>
            </a:r>
            <a:endParaRPr lang="en-IN" sz="2200" b="1" dirty="0"/>
          </a:p>
          <a:p>
            <a:endParaRPr lang="en-IN" sz="2200" dirty="0"/>
          </a:p>
          <a:p>
            <a:endParaRPr lang="en-IN" sz="2200" dirty="0"/>
          </a:p>
          <a:p>
            <a:endParaRPr lang="en-IN" sz="2200" dirty="0"/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333997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1745D0-1966-99C6-E622-668379A14D68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Types of Tests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A1FDD8-2A8E-9BA7-69B7-D9FC787BD746}"/>
              </a:ext>
            </a:extLst>
          </p:cNvPr>
          <p:cNvSpPr txBox="1"/>
          <p:nvPr/>
        </p:nvSpPr>
        <p:spPr>
          <a:xfrm>
            <a:off x="822960" y="2072640"/>
            <a:ext cx="10515600" cy="6632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sz="2500" b="1" i="0" dirty="0">
                <a:solidFill>
                  <a:srgbClr val="353535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Z-test</a:t>
            </a:r>
            <a:r>
              <a:rPr lang="en-US" sz="2500" b="0" i="0" dirty="0">
                <a:solidFill>
                  <a:srgbClr val="353535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: If population means and standard deviations are known. Z-statistic is commonly used.</a:t>
            </a:r>
          </a:p>
          <a:p>
            <a:pPr algn="l">
              <a:buFont typeface="+mj-lt"/>
              <a:buAutoNum type="arabicPeriod"/>
            </a:pPr>
            <a:endParaRPr lang="en-US" sz="2500" b="0" i="0" dirty="0">
              <a:solidFill>
                <a:srgbClr val="353535"/>
              </a:solidFill>
              <a:effectLst/>
              <a:highlight>
                <a:srgbClr val="FFFFFF"/>
              </a:highlight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 startAt="2"/>
            </a:pPr>
            <a:r>
              <a:rPr lang="en-US" sz="2500" b="1" i="0" dirty="0">
                <a:solidFill>
                  <a:srgbClr val="353535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t-test</a:t>
            </a:r>
            <a:r>
              <a:rPr lang="en-US" sz="2500" b="0" i="0" dirty="0">
                <a:solidFill>
                  <a:srgbClr val="353535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: If population standard deviations are unknown. and sample size is small than t-test statistic is more appropriate.</a:t>
            </a:r>
          </a:p>
          <a:p>
            <a:pPr algn="l">
              <a:buFont typeface="+mj-lt"/>
              <a:buAutoNum type="arabicPeriod" startAt="2"/>
            </a:pPr>
            <a:endParaRPr lang="en-US" sz="2500" b="0" i="0" dirty="0">
              <a:solidFill>
                <a:srgbClr val="353535"/>
              </a:solidFill>
              <a:effectLst/>
              <a:highlight>
                <a:srgbClr val="FFFFFF"/>
              </a:highlight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 startAt="3"/>
            </a:pPr>
            <a:r>
              <a:rPr lang="en-US" sz="2500" b="1" i="0" dirty="0">
                <a:solidFill>
                  <a:srgbClr val="353535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Chi-square test</a:t>
            </a:r>
            <a:r>
              <a:rPr lang="en-US" sz="2500" b="0" i="0" dirty="0">
                <a:solidFill>
                  <a:srgbClr val="353535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: Chi-square test is used for categorical data or for testing independence in contingency tables</a:t>
            </a:r>
          </a:p>
          <a:p>
            <a:pPr algn="l">
              <a:buFont typeface="+mj-lt"/>
              <a:buAutoNum type="arabicPeriod" startAt="3"/>
            </a:pPr>
            <a:endParaRPr lang="en-US" sz="2500" b="0" i="0" dirty="0">
              <a:solidFill>
                <a:srgbClr val="353535"/>
              </a:solidFill>
              <a:effectLst/>
              <a:highlight>
                <a:srgbClr val="FFFFFF"/>
              </a:highlight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 startAt="4"/>
            </a:pPr>
            <a:r>
              <a:rPr lang="en-US" sz="2500" b="1" i="0" dirty="0">
                <a:solidFill>
                  <a:srgbClr val="353535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F-test</a:t>
            </a:r>
            <a:r>
              <a:rPr lang="en-US" sz="2500" b="0" i="0" dirty="0">
                <a:solidFill>
                  <a:srgbClr val="353535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: F-test is often used in analysis of variance (ANOVA) to compare variances or test the equality of means across multiple groups.</a:t>
            </a:r>
          </a:p>
          <a:p>
            <a:endParaRPr lang="en-IN" sz="3000" b="1" dirty="0"/>
          </a:p>
          <a:p>
            <a:endParaRPr lang="en-IN" sz="3000" dirty="0"/>
          </a:p>
          <a:p>
            <a:endParaRPr lang="en-IN" sz="3000" dirty="0"/>
          </a:p>
          <a:p>
            <a:endParaRPr lang="en-IN" sz="3000" dirty="0"/>
          </a:p>
          <a:p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3078074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1745D0-1966-99C6-E622-668379A14D68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Type 1 and Type 2 Error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A1FDD8-2A8E-9BA7-69B7-D9FC787BD746}"/>
              </a:ext>
            </a:extLst>
          </p:cNvPr>
          <p:cNvSpPr txBox="1"/>
          <p:nvPr/>
        </p:nvSpPr>
        <p:spPr>
          <a:xfrm>
            <a:off x="822960" y="2072640"/>
            <a:ext cx="10515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/>
              <a:t>Type 1 error:</a:t>
            </a:r>
            <a:r>
              <a:rPr lang="en-IN" sz="3000" dirty="0"/>
              <a:t> When we reject the null Hypothesis, although that hypothesis was true. Type 1 error is denoted by alpha.</a:t>
            </a:r>
          </a:p>
          <a:p>
            <a:endParaRPr lang="en-IN" sz="3000" dirty="0"/>
          </a:p>
          <a:p>
            <a:r>
              <a:rPr lang="en-IN" sz="3000" b="1" dirty="0"/>
              <a:t>Type 2 error:</a:t>
            </a:r>
            <a:r>
              <a:rPr lang="en-IN" sz="3000" dirty="0"/>
              <a:t> When we accept the null Hypothesis, but it is false. Type 2 error is denoted by beta.</a:t>
            </a:r>
          </a:p>
          <a:p>
            <a:endParaRPr lang="en-IN" sz="3000" dirty="0"/>
          </a:p>
          <a:p>
            <a:endParaRPr lang="en-IN" sz="3000" dirty="0"/>
          </a:p>
          <a:p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1530250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1745D0-1966-99C6-E622-668379A14D68}"/>
              </a:ext>
            </a:extLst>
          </p:cNvPr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Case Study</a:t>
            </a: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A1FDD8-2A8E-9BA7-69B7-D9FC787BD746}"/>
              </a:ext>
            </a:extLst>
          </p:cNvPr>
          <p:cNvSpPr txBox="1"/>
          <p:nvPr/>
        </p:nvSpPr>
        <p:spPr>
          <a:xfrm>
            <a:off x="822960" y="2072640"/>
            <a:ext cx="10515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3000" dirty="0"/>
          </a:p>
          <a:p>
            <a:endParaRPr lang="en-IN" sz="3000" dirty="0"/>
          </a:p>
          <a:p>
            <a:endParaRPr lang="en-IN" sz="3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5B1EAD-8201-6E72-674F-83803323E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2185"/>
            <a:ext cx="10824754" cy="481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387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10545</TotalTime>
  <Words>297</Words>
  <Application>Microsoft Office PowerPoint</Application>
  <PresentationFormat>Widescreen</PresentationFormat>
  <Paragraphs>41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AB Testing Hypothesis Testing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Unisys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Relational Database &amp; SQL Basics</dc:title>
  <dc:creator>Sajjan, Mukesh</dc:creator>
  <cp:lastModifiedBy>Mukesh Sajjan</cp:lastModifiedBy>
  <cp:revision>22</cp:revision>
  <dcterms:created xsi:type="dcterms:W3CDTF">2023-12-14T12:25:04Z</dcterms:created>
  <dcterms:modified xsi:type="dcterms:W3CDTF">2024-07-06T14:04:51Z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bec90da-8de3-41c2-83a2-9a36daf445f7_Enabled">
    <vt:lpwstr>true</vt:lpwstr>
  </property>
  <property fmtid="{D5CDD505-2E9C-101B-9397-08002B2CF9AE}" pid="3" name="MSIP_Label_cbec90da-8de3-41c2-83a2-9a36daf445f7_SetDate">
    <vt:lpwstr>2023-12-15T11:13:42Z</vt:lpwstr>
  </property>
  <property fmtid="{D5CDD505-2E9C-101B-9397-08002B2CF9AE}" pid="4" name="MSIP_Label_cbec90da-8de3-41c2-83a2-9a36daf445f7_Method">
    <vt:lpwstr>Standard</vt:lpwstr>
  </property>
  <property fmtid="{D5CDD505-2E9C-101B-9397-08002B2CF9AE}" pid="5" name="MSIP_Label_cbec90da-8de3-41c2-83a2-9a36daf445f7_Name">
    <vt:lpwstr>Confidential File</vt:lpwstr>
  </property>
  <property fmtid="{D5CDD505-2E9C-101B-9397-08002B2CF9AE}" pid="6" name="MSIP_Label_cbec90da-8de3-41c2-83a2-9a36daf445f7_SiteId">
    <vt:lpwstr>8d894c2b-238f-490b-8dd1-d93898c5bf83</vt:lpwstr>
  </property>
  <property fmtid="{D5CDD505-2E9C-101B-9397-08002B2CF9AE}" pid="7" name="MSIP_Label_cbec90da-8de3-41c2-83a2-9a36daf445f7_ActionId">
    <vt:lpwstr>af28c2c4-2ba3-4d49-9504-092801df12e8</vt:lpwstr>
  </property>
  <property fmtid="{D5CDD505-2E9C-101B-9397-08002B2CF9AE}" pid="8" name="MSIP_Label_cbec90da-8de3-41c2-83a2-9a36daf445f7_ContentBits">
    <vt:lpwstr>0</vt:lpwstr>
  </property>
</Properties>
</file>